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1"/>
  </p:sldMasterIdLst>
  <p:sldIdLst>
    <p:sldId id="256" r:id="rId2"/>
    <p:sldId id="259" r:id="rId3"/>
    <p:sldId id="258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47" d="100"/>
          <a:sy n="47" d="100"/>
        </p:scale>
        <p:origin x="1027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6645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35797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07709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4238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11/24/2025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8394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11/24/2025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73992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11/24/2025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6454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3620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4821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1482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78403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31320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46B9231A-B34B-4A29-A6AC-532E1EE815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esthetic liquid watercolor and ink">
            <a:extLst>
              <a:ext uri="{FF2B5EF4-FFF2-40B4-BE49-F238E27FC236}">
                <a16:creationId xmlns:a16="http://schemas.microsoft.com/office/drawing/2014/main" id="{04A24CCE-C3EC-5659-0C7C-584B9D7CBCB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6705" r="9091" b="10148"/>
          <a:stretch>
            <a:fillRect/>
          </a:stretch>
        </p:blipFill>
        <p:spPr>
          <a:xfrm>
            <a:off x="20" y="152"/>
            <a:ext cx="12191980" cy="685784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02A036C-09C8-9660-3C40-7B85C04BA8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985233"/>
            <a:ext cx="5758628" cy="3355853"/>
          </a:xfrm>
        </p:spPr>
        <p:txBody>
          <a:bodyPr anchor="t">
            <a:normAutofit/>
          </a:bodyPr>
          <a:lstStyle/>
          <a:p>
            <a:r>
              <a:rPr lang="en-GB" sz="6000">
                <a:solidFill>
                  <a:srgbClr val="FFFFFF"/>
                </a:solidFill>
              </a:rPr>
              <a:t>Dynamic Programming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0CE0765-E93C-4D37-9D5F-D464EFB10F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495436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07635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1464E-0BBC-1722-E96F-8A968AFD89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5455921" cy="1097280"/>
          </a:xfrm>
        </p:spPr>
        <p:txBody>
          <a:bodyPr/>
          <a:lstStyle/>
          <a:p>
            <a:r>
              <a:rPr lang="en-GB" dirty="0"/>
              <a:t>Starting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B1C406-B34D-98AE-8648-8C0DBF4F67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472"/>
            <a:ext cx="5215288" cy="1755648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Taking the cheapest route, we found through the first task we use the first planet of that combination.</a:t>
            </a:r>
          </a:p>
          <a:p>
            <a:pPr marL="0" indent="0">
              <a:buNone/>
            </a:pPr>
            <a:r>
              <a:rPr lang="en-GB" dirty="0"/>
              <a:t>We start at Delta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D3231ED-8BA8-EE42-10FA-3CE2B3C13DC5}"/>
              </a:ext>
            </a:extLst>
          </p:cNvPr>
          <p:cNvSpPr/>
          <p:nvPr/>
        </p:nvSpPr>
        <p:spPr>
          <a:xfrm>
            <a:off x="8689073" y="2549733"/>
            <a:ext cx="932688" cy="941832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dirty="0"/>
              <a:t>Epsilon 30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C36DCA9-E440-2430-D103-8694400F337C}"/>
              </a:ext>
            </a:extLst>
          </p:cNvPr>
          <p:cNvSpPr/>
          <p:nvPr/>
        </p:nvSpPr>
        <p:spPr>
          <a:xfrm>
            <a:off x="8048993" y="1339677"/>
            <a:ext cx="932688" cy="941832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dirty="0"/>
              <a:t>Alpha 20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B776FA3-A3B2-9B1E-26F6-C460BBBF1472}"/>
              </a:ext>
            </a:extLst>
          </p:cNvPr>
          <p:cNvSpPr/>
          <p:nvPr/>
        </p:nvSpPr>
        <p:spPr>
          <a:xfrm>
            <a:off x="9329153" y="406989"/>
            <a:ext cx="932688" cy="941832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dirty="0"/>
              <a:t>Beta</a:t>
            </a:r>
          </a:p>
          <a:p>
            <a:pPr algn="ctr"/>
            <a:r>
              <a:rPr lang="en-GB" sz="1100" dirty="0"/>
              <a:t>40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0BE0495-98C0-F5D5-C6FC-49161A9A291B}"/>
              </a:ext>
            </a:extLst>
          </p:cNvPr>
          <p:cNvSpPr/>
          <p:nvPr/>
        </p:nvSpPr>
        <p:spPr>
          <a:xfrm>
            <a:off x="9969233" y="2549733"/>
            <a:ext cx="932688" cy="941832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dirty="0"/>
              <a:t>Delta</a:t>
            </a:r>
          </a:p>
          <a:p>
            <a:pPr algn="ctr"/>
            <a:r>
              <a:rPr lang="en-GB" sz="1100" dirty="0"/>
              <a:t>10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C0A1799-6717-455D-9B8E-254F2D9A4116}"/>
              </a:ext>
            </a:extLst>
          </p:cNvPr>
          <p:cNvSpPr/>
          <p:nvPr/>
        </p:nvSpPr>
        <p:spPr>
          <a:xfrm>
            <a:off x="10609312" y="1339677"/>
            <a:ext cx="1066801" cy="941832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dirty="0"/>
              <a:t>Gamma</a:t>
            </a:r>
          </a:p>
          <a:p>
            <a:pPr algn="ctr"/>
            <a:r>
              <a:rPr lang="en-GB" sz="1100" dirty="0"/>
              <a:t>70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98CCCCE-20FD-5ADE-B4C6-DD6C38AC6DEC}"/>
              </a:ext>
            </a:extLst>
          </p:cNvPr>
          <p:cNvCxnSpPr>
            <a:stCxn id="6" idx="3"/>
            <a:endCxn id="5" idx="7"/>
          </p:cNvCxnSpPr>
          <p:nvPr/>
        </p:nvCxnSpPr>
        <p:spPr>
          <a:xfrm flipH="1">
            <a:off x="8845092" y="1210893"/>
            <a:ext cx="620650" cy="266712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1DE87D3-4AD4-81D5-1FE3-F78FE2BD067D}"/>
              </a:ext>
            </a:extLst>
          </p:cNvPr>
          <p:cNvCxnSpPr>
            <a:cxnSpLocks/>
            <a:stCxn id="6" idx="5"/>
            <a:endCxn id="8" idx="1"/>
          </p:cNvCxnSpPr>
          <p:nvPr/>
        </p:nvCxnSpPr>
        <p:spPr>
          <a:xfrm>
            <a:off x="10125252" y="1210893"/>
            <a:ext cx="640289" cy="266712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A0A2C55-C812-9288-2B1D-DA6DCB8490A5}"/>
              </a:ext>
            </a:extLst>
          </p:cNvPr>
          <p:cNvCxnSpPr>
            <a:cxnSpLocks/>
            <a:stCxn id="8" idx="3"/>
            <a:endCxn id="7" idx="7"/>
          </p:cNvCxnSpPr>
          <p:nvPr/>
        </p:nvCxnSpPr>
        <p:spPr>
          <a:xfrm flipH="1">
            <a:off x="10765332" y="2143581"/>
            <a:ext cx="209" cy="544080"/>
          </a:xfrm>
          <a:prstGeom prst="lin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D25C0DC-57BE-C83A-DA01-FAB1A4A6DC24}"/>
              </a:ext>
            </a:extLst>
          </p:cNvPr>
          <p:cNvCxnSpPr>
            <a:stCxn id="4" idx="6"/>
            <a:endCxn id="7" idx="2"/>
          </p:cNvCxnSpPr>
          <p:nvPr/>
        </p:nvCxnSpPr>
        <p:spPr>
          <a:xfrm>
            <a:off x="9621761" y="3020649"/>
            <a:ext cx="347472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09FD372-9D19-7D7B-B267-9DE00DE688E9}"/>
              </a:ext>
            </a:extLst>
          </p:cNvPr>
          <p:cNvCxnSpPr>
            <a:stCxn id="5" idx="5"/>
            <a:endCxn id="4" idx="1"/>
          </p:cNvCxnSpPr>
          <p:nvPr/>
        </p:nvCxnSpPr>
        <p:spPr>
          <a:xfrm flipH="1">
            <a:off x="8825662" y="2143581"/>
            <a:ext cx="19430" cy="544080"/>
          </a:xfrm>
          <a:prstGeom prst="lin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718A986-4676-307E-7132-E1CD4384CCF7}"/>
              </a:ext>
            </a:extLst>
          </p:cNvPr>
          <p:cNvCxnSpPr>
            <a:stCxn id="6" idx="4"/>
            <a:endCxn id="4" idx="0"/>
          </p:cNvCxnSpPr>
          <p:nvPr/>
        </p:nvCxnSpPr>
        <p:spPr>
          <a:xfrm flipH="1">
            <a:off x="9155417" y="1348821"/>
            <a:ext cx="640080" cy="1200912"/>
          </a:xfrm>
          <a:prstGeom prst="lin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D997D9E-CEC8-7E3D-6005-797EA40011A0}"/>
              </a:ext>
            </a:extLst>
          </p:cNvPr>
          <p:cNvCxnSpPr>
            <a:cxnSpLocks/>
            <a:stCxn id="5" idx="6"/>
            <a:endCxn id="7" idx="0"/>
          </p:cNvCxnSpPr>
          <p:nvPr/>
        </p:nvCxnSpPr>
        <p:spPr>
          <a:xfrm>
            <a:off x="8981681" y="1810593"/>
            <a:ext cx="1453896" cy="73914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C9E07BD-1937-43A6-90E7-C7518C8B12BC}"/>
              </a:ext>
            </a:extLst>
          </p:cNvPr>
          <p:cNvCxnSpPr>
            <a:stCxn id="6" idx="4"/>
            <a:endCxn id="7" idx="0"/>
          </p:cNvCxnSpPr>
          <p:nvPr/>
        </p:nvCxnSpPr>
        <p:spPr>
          <a:xfrm>
            <a:off x="9795497" y="1348821"/>
            <a:ext cx="640080" cy="1200912"/>
          </a:xfrm>
          <a:prstGeom prst="lin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1D0E175-247B-4CC3-D486-B56F645B84DE}"/>
              </a:ext>
            </a:extLst>
          </p:cNvPr>
          <p:cNvCxnSpPr>
            <a:cxnSpLocks/>
            <a:stCxn id="8" idx="2"/>
            <a:endCxn id="4" idx="0"/>
          </p:cNvCxnSpPr>
          <p:nvPr/>
        </p:nvCxnSpPr>
        <p:spPr>
          <a:xfrm flipH="1">
            <a:off x="9155417" y="1810593"/>
            <a:ext cx="1453895" cy="739140"/>
          </a:xfrm>
          <a:prstGeom prst="lin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6F6AA0E-FB55-D6D7-7477-A49B9CE03F21}"/>
              </a:ext>
            </a:extLst>
          </p:cNvPr>
          <p:cNvCxnSpPr>
            <a:cxnSpLocks/>
            <a:stCxn id="5" idx="6"/>
            <a:endCxn id="8" idx="2"/>
          </p:cNvCxnSpPr>
          <p:nvPr/>
        </p:nvCxnSpPr>
        <p:spPr>
          <a:xfrm>
            <a:off x="8981681" y="1810593"/>
            <a:ext cx="1627631" cy="0"/>
          </a:xfrm>
          <a:prstGeom prst="lin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208D13CC-EFFF-5CEF-78F0-ADE001716CD1}"/>
              </a:ext>
            </a:extLst>
          </p:cNvPr>
          <p:cNvSpPr txBox="1"/>
          <p:nvPr/>
        </p:nvSpPr>
        <p:spPr>
          <a:xfrm>
            <a:off x="8807946" y="1123269"/>
            <a:ext cx="406734" cy="2616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1100" dirty="0"/>
              <a:t>10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6EDFD6A-499C-3E68-98CB-1CBC116F3B01}"/>
              </a:ext>
            </a:extLst>
          </p:cNvPr>
          <p:cNvSpPr txBox="1"/>
          <p:nvPr/>
        </p:nvSpPr>
        <p:spPr>
          <a:xfrm>
            <a:off x="10342111" y="1123269"/>
            <a:ext cx="406734" cy="2616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1100" dirty="0"/>
              <a:t>12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6A10CA4-C9DC-32B0-9600-23A3ABC62A02}"/>
              </a:ext>
            </a:extLst>
          </p:cNvPr>
          <p:cNvSpPr txBox="1"/>
          <p:nvPr/>
        </p:nvSpPr>
        <p:spPr>
          <a:xfrm>
            <a:off x="8410070" y="2367112"/>
            <a:ext cx="406734" cy="2616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1100" dirty="0"/>
              <a:t>20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CF2DFAA-D132-C06E-5FAE-D9B877C2838B}"/>
              </a:ext>
            </a:extLst>
          </p:cNvPr>
          <p:cNvSpPr txBox="1"/>
          <p:nvPr/>
        </p:nvSpPr>
        <p:spPr>
          <a:xfrm>
            <a:off x="9567361" y="3027262"/>
            <a:ext cx="406734" cy="2616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1100" dirty="0"/>
              <a:t>17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2618799-04C1-EDE6-5C7D-0ADC219336DD}"/>
              </a:ext>
            </a:extLst>
          </p:cNvPr>
          <p:cNvSpPr txBox="1"/>
          <p:nvPr/>
        </p:nvSpPr>
        <p:spPr>
          <a:xfrm>
            <a:off x="10771706" y="2365588"/>
            <a:ext cx="406734" cy="2616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1100" dirty="0"/>
              <a:t>16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C268745-B898-473C-1376-65C11F9522CF}"/>
              </a:ext>
            </a:extLst>
          </p:cNvPr>
          <p:cNvSpPr txBox="1"/>
          <p:nvPr/>
        </p:nvSpPr>
        <p:spPr>
          <a:xfrm>
            <a:off x="9068723" y="1604734"/>
            <a:ext cx="406734" cy="2616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1100" dirty="0"/>
              <a:t>15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C0D7535-AAF9-E946-A683-BA1B178DCAAD}"/>
              </a:ext>
            </a:extLst>
          </p:cNvPr>
          <p:cNvSpPr txBox="1"/>
          <p:nvPr/>
        </p:nvSpPr>
        <p:spPr>
          <a:xfrm>
            <a:off x="9436110" y="1348961"/>
            <a:ext cx="406734" cy="2616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1100" dirty="0"/>
              <a:t>14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FB5A2EA-9375-62CC-F636-60F3551C1428}"/>
              </a:ext>
            </a:extLst>
          </p:cNvPr>
          <p:cNvSpPr txBox="1"/>
          <p:nvPr/>
        </p:nvSpPr>
        <p:spPr>
          <a:xfrm>
            <a:off x="9865611" y="1460073"/>
            <a:ext cx="406734" cy="2616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1100" dirty="0"/>
              <a:t>25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04C3B73-4CCD-4E79-186D-F9AD8BB5EFA0}"/>
              </a:ext>
            </a:extLst>
          </p:cNvPr>
          <p:cNvSpPr txBox="1"/>
          <p:nvPr/>
        </p:nvSpPr>
        <p:spPr>
          <a:xfrm>
            <a:off x="9005703" y="1889095"/>
            <a:ext cx="406734" cy="2616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1100" dirty="0"/>
              <a:t>12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E907AC1-6A8D-65FA-1CC1-FA33D49ACB64}"/>
              </a:ext>
            </a:extLst>
          </p:cNvPr>
          <p:cNvSpPr txBox="1"/>
          <p:nvPr/>
        </p:nvSpPr>
        <p:spPr>
          <a:xfrm>
            <a:off x="10325451" y="1860884"/>
            <a:ext cx="406734" cy="2616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1100" dirty="0"/>
              <a:t>28</a:t>
            </a:r>
          </a:p>
        </p:txBody>
      </p: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268FEA40-159C-3C12-DA23-869069E3CE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6359810"/>
              </p:ext>
            </p:extLst>
          </p:nvPr>
        </p:nvGraphicFramePr>
        <p:xfrm>
          <a:off x="4437113" y="4380140"/>
          <a:ext cx="5998464" cy="1746252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499616">
                  <a:extLst>
                    <a:ext uri="{9D8B030D-6E8A-4147-A177-3AD203B41FA5}">
                      <a16:colId xmlns:a16="http://schemas.microsoft.com/office/drawing/2014/main" val="1009625960"/>
                    </a:ext>
                  </a:extLst>
                </a:gridCol>
                <a:gridCol w="1499616">
                  <a:extLst>
                    <a:ext uri="{9D8B030D-6E8A-4147-A177-3AD203B41FA5}">
                      <a16:colId xmlns:a16="http://schemas.microsoft.com/office/drawing/2014/main" val="3110447404"/>
                    </a:ext>
                  </a:extLst>
                </a:gridCol>
                <a:gridCol w="1499616">
                  <a:extLst>
                    <a:ext uri="{9D8B030D-6E8A-4147-A177-3AD203B41FA5}">
                      <a16:colId xmlns:a16="http://schemas.microsoft.com/office/drawing/2014/main" val="2382263548"/>
                    </a:ext>
                  </a:extLst>
                </a:gridCol>
                <a:gridCol w="1499616">
                  <a:extLst>
                    <a:ext uri="{9D8B030D-6E8A-4147-A177-3AD203B41FA5}">
                      <a16:colId xmlns:a16="http://schemas.microsoft.com/office/drawing/2014/main" val="3070518282"/>
                    </a:ext>
                  </a:extLst>
                </a:gridCol>
              </a:tblGrid>
              <a:tr h="368724">
                <a:tc>
                  <a:txBody>
                    <a:bodyPr/>
                    <a:lstStyle/>
                    <a:p>
                      <a:r>
                        <a:rPr lang="en-GB" dirty="0"/>
                        <a:t>D to A(120)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 to G(160)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 to E(170)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 to B(250)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7369681"/>
                  </a:ext>
                </a:extLst>
              </a:tr>
              <a:tr h="368724">
                <a:tc>
                  <a:txBody>
                    <a:bodyPr/>
                    <a:lstStyle/>
                    <a:p>
                      <a:r>
                        <a:rPr lang="en-GB" dirty="0"/>
                        <a:t>D A B(420)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 G B(1120)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 E B (730)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 B A (750)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9430685"/>
                  </a:ext>
                </a:extLst>
              </a:tr>
              <a:tr h="368724">
                <a:tc>
                  <a:txBody>
                    <a:bodyPr/>
                    <a:lstStyle/>
                    <a:p>
                      <a:r>
                        <a:rPr lang="en-GB" dirty="0"/>
                        <a:t>D A G (570)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 G A (1360)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 E A (970)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 D B G(850)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2473139"/>
                  </a:ext>
                </a:extLst>
              </a:tr>
              <a:tr h="368724">
                <a:tc>
                  <a:txBody>
                    <a:bodyPr/>
                    <a:lstStyle/>
                    <a:p>
                      <a:r>
                        <a:rPr lang="en-GB" dirty="0"/>
                        <a:t>D A E (720)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 G E  (2400)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 E G (1290)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 B E (950)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56151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560282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25937-72DC-9D78-8298-E1930CC8D4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6097605" cy="1097280"/>
          </a:xfrm>
        </p:spPr>
        <p:txBody>
          <a:bodyPr/>
          <a:lstStyle/>
          <a:p>
            <a:r>
              <a:rPr lang="en-GB" dirty="0"/>
              <a:t>First Part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4A8EE4-D112-3C01-A2A0-66725BBA2D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472"/>
            <a:ext cx="4248348" cy="2147075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We check the values and the result are multiple combinations and choose to remove the higher values while keeping the pair with the lower value.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F67BF785-5062-7A84-4B0E-DEBEEF3B6EF5}"/>
              </a:ext>
            </a:extLst>
          </p:cNvPr>
          <p:cNvSpPr/>
          <p:nvPr/>
        </p:nvSpPr>
        <p:spPr>
          <a:xfrm>
            <a:off x="7245283" y="3325940"/>
            <a:ext cx="932688" cy="941832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dirty="0"/>
              <a:t>Epsilon 30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A402C85-FF4C-963A-3B7E-BB08453F9FE3}"/>
              </a:ext>
            </a:extLst>
          </p:cNvPr>
          <p:cNvSpPr/>
          <p:nvPr/>
        </p:nvSpPr>
        <p:spPr>
          <a:xfrm>
            <a:off x="6605203" y="2115884"/>
            <a:ext cx="932688" cy="941832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dirty="0"/>
              <a:t>Alpha 20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2B69DB5-CBBB-7455-AB5E-60F9F8EE7BF0}"/>
              </a:ext>
            </a:extLst>
          </p:cNvPr>
          <p:cNvSpPr/>
          <p:nvPr/>
        </p:nvSpPr>
        <p:spPr>
          <a:xfrm>
            <a:off x="7885363" y="1183196"/>
            <a:ext cx="932688" cy="941832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dirty="0"/>
              <a:t>Beta</a:t>
            </a:r>
          </a:p>
          <a:p>
            <a:pPr algn="ctr"/>
            <a:r>
              <a:rPr lang="en-GB" sz="1100" dirty="0"/>
              <a:t>40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0F8C4FE-B272-0ED0-596C-901D5D254B9A}"/>
              </a:ext>
            </a:extLst>
          </p:cNvPr>
          <p:cNvSpPr/>
          <p:nvPr/>
        </p:nvSpPr>
        <p:spPr>
          <a:xfrm>
            <a:off x="8525443" y="3325940"/>
            <a:ext cx="932688" cy="941832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dirty="0"/>
              <a:t>Delta</a:t>
            </a:r>
          </a:p>
          <a:p>
            <a:pPr algn="ctr"/>
            <a:r>
              <a:rPr lang="en-GB" sz="1100" dirty="0"/>
              <a:t>10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D82AF8E-38B1-E9B8-83FC-26484B97AE58}"/>
              </a:ext>
            </a:extLst>
          </p:cNvPr>
          <p:cNvSpPr/>
          <p:nvPr/>
        </p:nvSpPr>
        <p:spPr>
          <a:xfrm>
            <a:off x="9165522" y="2115884"/>
            <a:ext cx="1066801" cy="941832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dirty="0"/>
              <a:t>Gamma</a:t>
            </a:r>
          </a:p>
          <a:p>
            <a:pPr algn="ctr"/>
            <a:r>
              <a:rPr lang="en-GB" sz="1100" dirty="0"/>
              <a:t>70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8267A21-DD7B-89E4-C8D6-69232121DBA9}"/>
              </a:ext>
            </a:extLst>
          </p:cNvPr>
          <p:cNvCxnSpPr>
            <a:stCxn id="6" idx="3"/>
            <a:endCxn id="5" idx="7"/>
          </p:cNvCxnSpPr>
          <p:nvPr/>
        </p:nvCxnSpPr>
        <p:spPr>
          <a:xfrm flipH="1">
            <a:off x="7401302" y="1987100"/>
            <a:ext cx="620650" cy="266712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8DAC396-0F0E-3208-8771-CA3172D0C105}"/>
              </a:ext>
            </a:extLst>
          </p:cNvPr>
          <p:cNvCxnSpPr>
            <a:cxnSpLocks/>
            <a:stCxn id="6" idx="5"/>
            <a:endCxn id="8" idx="1"/>
          </p:cNvCxnSpPr>
          <p:nvPr/>
        </p:nvCxnSpPr>
        <p:spPr>
          <a:xfrm>
            <a:off x="8681462" y="1987100"/>
            <a:ext cx="640289" cy="266712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04B507B-4757-3961-A8CF-B3631342171A}"/>
              </a:ext>
            </a:extLst>
          </p:cNvPr>
          <p:cNvCxnSpPr>
            <a:cxnSpLocks/>
            <a:stCxn id="8" idx="3"/>
            <a:endCxn id="7" idx="7"/>
          </p:cNvCxnSpPr>
          <p:nvPr/>
        </p:nvCxnSpPr>
        <p:spPr>
          <a:xfrm flipH="1">
            <a:off x="9321542" y="2919788"/>
            <a:ext cx="209" cy="544080"/>
          </a:xfrm>
          <a:prstGeom prst="lin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3106279-C13B-968E-041D-ACBA3C8C18FF}"/>
              </a:ext>
            </a:extLst>
          </p:cNvPr>
          <p:cNvCxnSpPr>
            <a:stCxn id="4" idx="6"/>
            <a:endCxn id="7" idx="2"/>
          </p:cNvCxnSpPr>
          <p:nvPr/>
        </p:nvCxnSpPr>
        <p:spPr>
          <a:xfrm>
            <a:off x="8177971" y="3796856"/>
            <a:ext cx="347472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9E705C3-9D85-62E1-2643-0753E7F4DB6A}"/>
              </a:ext>
            </a:extLst>
          </p:cNvPr>
          <p:cNvCxnSpPr>
            <a:stCxn id="5" idx="5"/>
            <a:endCxn id="4" idx="1"/>
          </p:cNvCxnSpPr>
          <p:nvPr/>
        </p:nvCxnSpPr>
        <p:spPr>
          <a:xfrm flipH="1">
            <a:off x="7381872" y="2919788"/>
            <a:ext cx="19430" cy="544080"/>
          </a:xfrm>
          <a:prstGeom prst="lin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C9CFE0B-A0EB-1C0B-8F98-E9583A0C66B7}"/>
              </a:ext>
            </a:extLst>
          </p:cNvPr>
          <p:cNvCxnSpPr>
            <a:stCxn id="6" idx="4"/>
            <a:endCxn id="4" idx="0"/>
          </p:cNvCxnSpPr>
          <p:nvPr/>
        </p:nvCxnSpPr>
        <p:spPr>
          <a:xfrm flipH="1">
            <a:off x="7711627" y="2125028"/>
            <a:ext cx="640080" cy="1200912"/>
          </a:xfrm>
          <a:prstGeom prst="lin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D954843-991C-84F2-9CB6-325A3F653FF7}"/>
              </a:ext>
            </a:extLst>
          </p:cNvPr>
          <p:cNvCxnSpPr>
            <a:cxnSpLocks/>
            <a:stCxn id="5" idx="6"/>
            <a:endCxn id="7" idx="0"/>
          </p:cNvCxnSpPr>
          <p:nvPr/>
        </p:nvCxnSpPr>
        <p:spPr>
          <a:xfrm>
            <a:off x="7537891" y="2586800"/>
            <a:ext cx="1453896" cy="73914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F756056-78B7-C576-66AE-46F6B89342AD}"/>
              </a:ext>
            </a:extLst>
          </p:cNvPr>
          <p:cNvCxnSpPr>
            <a:stCxn id="6" idx="4"/>
            <a:endCxn id="7" idx="0"/>
          </p:cNvCxnSpPr>
          <p:nvPr/>
        </p:nvCxnSpPr>
        <p:spPr>
          <a:xfrm>
            <a:off x="8351707" y="2125028"/>
            <a:ext cx="640080" cy="1200912"/>
          </a:xfrm>
          <a:prstGeom prst="lin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90A5D4C-2E52-AAE3-A5FB-ED58DC5A700C}"/>
              </a:ext>
            </a:extLst>
          </p:cNvPr>
          <p:cNvCxnSpPr>
            <a:cxnSpLocks/>
            <a:stCxn id="8" idx="2"/>
            <a:endCxn id="4" idx="0"/>
          </p:cNvCxnSpPr>
          <p:nvPr/>
        </p:nvCxnSpPr>
        <p:spPr>
          <a:xfrm flipH="1">
            <a:off x="7711627" y="2586800"/>
            <a:ext cx="1453895" cy="739140"/>
          </a:xfrm>
          <a:prstGeom prst="lin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4EAEC53-9EC3-599F-0C2F-79E80B101D3B}"/>
              </a:ext>
            </a:extLst>
          </p:cNvPr>
          <p:cNvCxnSpPr>
            <a:cxnSpLocks/>
            <a:stCxn id="5" idx="6"/>
            <a:endCxn id="8" idx="2"/>
          </p:cNvCxnSpPr>
          <p:nvPr/>
        </p:nvCxnSpPr>
        <p:spPr>
          <a:xfrm>
            <a:off x="7537891" y="2586800"/>
            <a:ext cx="1627631" cy="0"/>
          </a:xfrm>
          <a:prstGeom prst="lin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B6C7AC2C-A74F-5EA5-8851-DBA59D0FC8F1}"/>
              </a:ext>
            </a:extLst>
          </p:cNvPr>
          <p:cNvSpPr txBox="1"/>
          <p:nvPr/>
        </p:nvSpPr>
        <p:spPr>
          <a:xfrm>
            <a:off x="7364156" y="1899476"/>
            <a:ext cx="406734" cy="2616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1100" dirty="0"/>
              <a:t>10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C9221B7-D449-3BCD-58BA-38BAEF000BFB}"/>
              </a:ext>
            </a:extLst>
          </p:cNvPr>
          <p:cNvSpPr txBox="1"/>
          <p:nvPr/>
        </p:nvSpPr>
        <p:spPr>
          <a:xfrm>
            <a:off x="8898321" y="1899476"/>
            <a:ext cx="406734" cy="2616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1100" dirty="0"/>
              <a:t>12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3289C93-AA88-1AFF-5DDF-25A12A3920C3}"/>
              </a:ext>
            </a:extLst>
          </p:cNvPr>
          <p:cNvSpPr txBox="1"/>
          <p:nvPr/>
        </p:nvSpPr>
        <p:spPr>
          <a:xfrm>
            <a:off x="6966280" y="3143319"/>
            <a:ext cx="406734" cy="2616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1100" dirty="0"/>
              <a:t>20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0933171-596D-0994-B1DE-661A115D7D4B}"/>
              </a:ext>
            </a:extLst>
          </p:cNvPr>
          <p:cNvSpPr txBox="1"/>
          <p:nvPr/>
        </p:nvSpPr>
        <p:spPr>
          <a:xfrm>
            <a:off x="8123571" y="3803469"/>
            <a:ext cx="406734" cy="2616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1100" dirty="0"/>
              <a:t>17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82E0CC8-5387-B773-C689-C0A1722207E8}"/>
              </a:ext>
            </a:extLst>
          </p:cNvPr>
          <p:cNvSpPr txBox="1"/>
          <p:nvPr/>
        </p:nvSpPr>
        <p:spPr>
          <a:xfrm>
            <a:off x="9327916" y="3141795"/>
            <a:ext cx="406734" cy="2616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1100" dirty="0"/>
              <a:t>16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FCC4A36-6C6E-BF73-9EEF-D01BE5070BA4}"/>
              </a:ext>
            </a:extLst>
          </p:cNvPr>
          <p:cNvSpPr txBox="1"/>
          <p:nvPr/>
        </p:nvSpPr>
        <p:spPr>
          <a:xfrm>
            <a:off x="7624933" y="2380941"/>
            <a:ext cx="406734" cy="2616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1100" dirty="0"/>
              <a:t>15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6156415-5CEC-B890-B645-089A79824C60}"/>
              </a:ext>
            </a:extLst>
          </p:cNvPr>
          <p:cNvSpPr txBox="1"/>
          <p:nvPr/>
        </p:nvSpPr>
        <p:spPr>
          <a:xfrm>
            <a:off x="7992320" y="2125168"/>
            <a:ext cx="406734" cy="2616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1100" dirty="0"/>
              <a:t>14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42AEE26-F6F4-A894-DD73-B989E1599F83}"/>
              </a:ext>
            </a:extLst>
          </p:cNvPr>
          <p:cNvSpPr txBox="1"/>
          <p:nvPr/>
        </p:nvSpPr>
        <p:spPr>
          <a:xfrm>
            <a:off x="8421821" y="2236280"/>
            <a:ext cx="406734" cy="2616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1100" dirty="0"/>
              <a:t>25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1C35277-BB90-9F1D-00AC-04DBB444EB9A}"/>
              </a:ext>
            </a:extLst>
          </p:cNvPr>
          <p:cNvSpPr txBox="1"/>
          <p:nvPr/>
        </p:nvSpPr>
        <p:spPr>
          <a:xfrm>
            <a:off x="7561913" y="2665302"/>
            <a:ext cx="406734" cy="2616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1100" dirty="0"/>
              <a:t>12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E8BA8A1-968D-85A3-33E7-7670F07640A2}"/>
              </a:ext>
            </a:extLst>
          </p:cNvPr>
          <p:cNvSpPr txBox="1"/>
          <p:nvPr/>
        </p:nvSpPr>
        <p:spPr>
          <a:xfrm>
            <a:off x="8881661" y="2637091"/>
            <a:ext cx="406734" cy="2616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1100" dirty="0"/>
              <a:t>28</a:t>
            </a:r>
          </a:p>
        </p:txBody>
      </p:sp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7D86ABC3-CB9E-DE47-3B40-3163F85431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2066265"/>
              </p:ext>
            </p:extLst>
          </p:nvPr>
        </p:nvGraphicFramePr>
        <p:xfrm>
          <a:off x="254508" y="4873580"/>
          <a:ext cx="5998464" cy="1746252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499616">
                  <a:extLst>
                    <a:ext uri="{9D8B030D-6E8A-4147-A177-3AD203B41FA5}">
                      <a16:colId xmlns:a16="http://schemas.microsoft.com/office/drawing/2014/main" val="1009625960"/>
                    </a:ext>
                  </a:extLst>
                </a:gridCol>
                <a:gridCol w="1499616">
                  <a:extLst>
                    <a:ext uri="{9D8B030D-6E8A-4147-A177-3AD203B41FA5}">
                      <a16:colId xmlns:a16="http://schemas.microsoft.com/office/drawing/2014/main" val="3110447404"/>
                    </a:ext>
                  </a:extLst>
                </a:gridCol>
                <a:gridCol w="1499616">
                  <a:extLst>
                    <a:ext uri="{9D8B030D-6E8A-4147-A177-3AD203B41FA5}">
                      <a16:colId xmlns:a16="http://schemas.microsoft.com/office/drawing/2014/main" val="2382263548"/>
                    </a:ext>
                  </a:extLst>
                </a:gridCol>
                <a:gridCol w="1499616">
                  <a:extLst>
                    <a:ext uri="{9D8B030D-6E8A-4147-A177-3AD203B41FA5}">
                      <a16:colId xmlns:a16="http://schemas.microsoft.com/office/drawing/2014/main" val="3070518282"/>
                    </a:ext>
                  </a:extLst>
                </a:gridCol>
              </a:tblGrid>
              <a:tr h="368724">
                <a:tc>
                  <a:txBody>
                    <a:bodyPr/>
                    <a:lstStyle/>
                    <a:p>
                      <a:r>
                        <a:rPr lang="en-GB" dirty="0"/>
                        <a:t>D to A(120)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 to G(160)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 to E(170)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 to B(250)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7369681"/>
                  </a:ext>
                </a:extLst>
              </a:tr>
              <a:tr h="368724">
                <a:tc>
                  <a:txBody>
                    <a:bodyPr/>
                    <a:lstStyle/>
                    <a:p>
                      <a:r>
                        <a:rPr lang="en-GB" dirty="0"/>
                        <a:t>D A B(420)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 G B(1120)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 E B (730)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 B A (750)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C00000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9430685"/>
                  </a:ext>
                </a:extLst>
              </a:tr>
              <a:tr h="368724">
                <a:tc>
                  <a:txBody>
                    <a:bodyPr/>
                    <a:lstStyle/>
                    <a:p>
                      <a:r>
                        <a:rPr lang="en-GB" dirty="0"/>
                        <a:t>D A G (570)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 G A (1360)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 E A (970)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 D B G(850)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2473139"/>
                  </a:ext>
                </a:extLst>
              </a:tr>
              <a:tr h="368724">
                <a:tc>
                  <a:txBody>
                    <a:bodyPr/>
                    <a:lstStyle/>
                    <a:p>
                      <a:r>
                        <a:rPr lang="en-GB" dirty="0"/>
                        <a:t>D A E (720)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 G E  (2400)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 E G (1290)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 B E (950)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rgbClr val="C00000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5615113"/>
                  </a:ext>
                </a:extLst>
              </a:tr>
            </a:tbl>
          </a:graphicData>
        </a:graphic>
      </p:graphicFrame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8A8C0B53-4545-815E-F2E0-5C1B2DCECA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7650345"/>
              </p:ext>
            </p:extLst>
          </p:nvPr>
        </p:nvGraphicFramePr>
        <p:xfrm>
          <a:off x="6966094" y="4885436"/>
          <a:ext cx="4573200" cy="14630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524400">
                  <a:extLst>
                    <a:ext uri="{9D8B030D-6E8A-4147-A177-3AD203B41FA5}">
                      <a16:colId xmlns:a16="http://schemas.microsoft.com/office/drawing/2014/main" val="3058747423"/>
                    </a:ext>
                  </a:extLst>
                </a:gridCol>
                <a:gridCol w="1524400">
                  <a:extLst>
                    <a:ext uri="{9D8B030D-6E8A-4147-A177-3AD203B41FA5}">
                      <a16:colId xmlns:a16="http://schemas.microsoft.com/office/drawing/2014/main" val="4196203761"/>
                    </a:ext>
                  </a:extLst>
                </a:gridCol>
                <a:gridCol w="1524400">
                  <a:extLst>
                    <a:ext uri="{9D8B030D-6E8A-4147-A177-3AD203B41FA5}">
                      <a16:colId xmlns:a16="http://schemas.microsoft.com/office/drawing/2014/main" val="4169164792"/>
                    </a:ext>
                  </a:extLst>
                </a:gridCol>
              </a:tblGrid>
              <a:tr h="361627">
                <a:tc>
                  <a:txBody>
                    <a:bodyPr/>
                    <a:lstStyle/>
                    <a:p>
                      <a:r>
                        <a:rPr lang="en-GB" dirty="0"/>
                        <a:t>D A (120)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 E(170)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 B (250)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890728"/>
                  </a:ext>
                </a:extLst>
              </a:tr>
              <a:tr h="361627">
                <a:tc>
                  <a:txBody>
                    <a:bodyPr/>
                    <a:lstStyle/>
                    <a:p>
                      <a:r>
                        <a:rPr lang="en-GB" dirty="0"/>
                        <a:t>D A B(420)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 E B (730)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 D B G(850)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0582946"/>
                  </a:ext>
                </a:extLst>
              </a:tr>
              <a:tr h="361627">
                <a:tc>
                  <a:txBody>
                    <a:bodyPr/>
                    <a:lstStyle/>
                    <a:p>
                      <a:r>
                        <a:rPr lang="en-GB" dirty="0"/>
                        <a:t>D A G (570)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 E G (1290)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4159141"/>
                  </a:ext>
                </a:extLst>
              </a:tr>
              <a:tr h="361627">
                <a:tc>
                  <a:txBody>
                    <a:bodyPr/>
                    <a:lstStyle/>
                    <a:p>
                      <a:r>
                        <a:rPr lang="en-GB" dirty="0"/>
                        <a:t>D A E (720)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96901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613251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94A08-95FA-34E2-9FDA-D1868034D1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4188595" cy="1097280"/>
          </a:xfrm>
        </p:spPr>
        <p:txBody>
          <a:bodyPr/>
          <a:lstStyle/>
          <a:p>
            <a:r>
              <a:rPr lang="en-GB" dirty="0"/>
              <a:t>Second Part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2DED22-8FB4-5C4F-CBED-794A620661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472"/>
            <a:ext cx="4894446" cy="3566160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After removing the first subproblems that had higher values, I go further down the problem and divide the problem in more subproblems, yet again I check the faster root and remove the highest values while keeping the cheapest route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1412E4E-3D0D-0E4B-E0B1-42F4B00D92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9951196"/>
              </p:ext>
            </p:extLst>
          </p:nvPr>
        </p:nvGraphicFramePr>
        <p:xfrm>
          <a:off x="5868814" y="2109089"/>
          <a:ext cx="5570331" cy="36576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856777">
                  <a:extLst>
                    <a:ext uri="{9D8B030D-6E8A-4147-A177-3AD203B41FA5}">
                      <a16:colId xmlns:a16="http://schemas.microsoft.com/office/drawing/2014/main" val="3058747423"/>
                    </a:ext>
                  </a:extLst>
                </a:gridCol>
                <a:gridCol w="1856777">
                  <a:extLst>
                    <a:ext uri="{9D8B030D-6E8A-4147-A177-3AD203B41FA5}">
                      <a16:colId xmlns:a16="http://schemas.microsoft.com/office/drawing/2014/main" val="4196203761"/>
                    </a:ext>
                  </a:extLst>
                </a:gridCol>
                <a:gridCol w="1856777">
                  <a:extLst>
                    <a:ext uri="{9D8B030D-6E8A-4147-A177-3AD203B41FA5}">
                      <a16:colId xmlns:a16="http://schemas.microsoft.com/office/drawing/2014/main" val="4169164792"/>
                    </a:ext>
                  </a:extLst>
                </a:gridCol>
              </a:tblGrid>
              <a:tr h="361627">
                <a:tc>
                  <a:txBody>
                    <a:bodyPr/>
                    <a:lstStyle/>
                    <a:p>
                      <a:r>
                        <a:rPr lang="en-GB" dirty="0"/>
                        <a:t>D A (120)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 E(170)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 B (250)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890728"/>
                  </a:ext>
                </a:extLst>
              </a:tr>
              <a:tr h="361627">
                <a:tc>
                  <a:txBody>
                    <a:bodyPr/>
                    <a:lstStyle/>
                    <a:p>
                      <a:r>
                        <a:rPr lang="en-GB" dirty="0"/>
                        <a:t>D A B(420)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 E B (730)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 D B G(850) 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0582946"/>
                  </a:ext>
                </a:extLst>
              </a:tr>
              <a:tr h="361627">
                <a:tc>
                  <a:txBody>
                    <a:bodyPr/>
                    <a:lstStyle/>
                    <a:p>
                      <a:r>
                        <a:rPr lang="en-GB" dirty="0"/>
                        <a:t>D A G (570)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 E G (1290)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4159141"/>
                  </a:ext>
                </a:extLst>
              </a:tr>
              <a:tr h="361627">
                <a:tc>
                  <a:txBody>
                    <a:bodyPr/>
                    <a:lstStyle/>
                    <a:p>
                      <a:r>
                        <a:rPr lang="en-GB" dirty="0"/>
                        <a:t>D A E (720)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9690198"/>
                  </a:ext>
                </a:extLst>
              </a:tr>
              <a:tr h="361627">
                <a:tc>
                  <a:txBody>
                    <a:bodyPr/>
                    <a:lstStyle/>
                    <a:p>
                      <a:r>
                        <a:rPr lang="en-GB" dirty="0"/>
                        <a:t> D A B E(1400)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 E B A (1530)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 B G A(2650)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344488"/>
                  </a:ext>
                </a:extLst>
              </a:tr>
              <a:tr h="361627">
                <a:tc>
                  <a:txBody>
                    <a:bodyPr/>
                    <a:lstStyle/>
                    <a:p>
                      <a:r>
                        <a:rPr lang="en-GB" dirty="0"/>
                        <a:t>D A B G (1260)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 E B G (1690)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9064923"/>
                  </a:ext>
                </a:extLst>
              </a:tr>
              <a:tr h="361627">
                <a:tc>
                  <a:txBody>
                    <a:bodyPr/>
                    <a:lstStyle/>
                    <a:p>
                      <a:r>
                        <a:rPr lang="en-GB" dirty="0"/>
                        <a:t>D A G B (1770)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4637518"/>
                  </a:ext>
                </a:extLst>
              </a:tr>
              <a:tr h="361627">
                <a:tc>
                  <a:txBody>
                    <a:bodyPr/>
                    <a:lstStyle/>
                    <a:p>
                      <a:r>
                        <a:rPr lang="en-GB" dirty="0"/>
                        <a:t>D A G E (3370)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 E G A (2940)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 B G E (4210)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0506523"/>
                  </a:ext>
                </a:extLst>
              </a:tr>
              <a:tr h="361627">
                <a:tc>
                  <a:txBody>
                    <a:bodyPr/>
                    <a:lstStyle/>
                    <a:p>
                      <a:r>
                        <a:rPr lang="en-GB" dirty="0"/>
                        <a:t>D A E B (1560)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 E G B (2610)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8851852"/>
                  </a:ext>
                </a:extLst>
              </a:tr>
              <a:tr h="361627">
                <a:tc>
                  <a:txBody>
                    <a:bodyPr/>
                    <a:lstStyle/>
                    <a:p>
                      <a:r>
                        <a:rPr lang="en-GB" dirty="0"/>
                        <a:t>D A E G (2400)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66575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589597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E6BEA-F0CE-5CEC-8280-F33C5B751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1"/>
            <a:ext cx="5311542" cy="1097280"/>
          </a:xfrm>
        </p:spPr>
        <p:txBody>
          <a:bodyPr/>
          <a:lstStyle/>
          <a:p>
            <a:r>
              <a:rPr lang="en-GB" dirty="0"/>
              <a:t>Last Part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067E3C-5E51-9F61-E919-B2F4D42903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8759" y="2633472"/>
            <a:ext cx="5951620" cy="3862277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After doing the same steps two more time, I got removed ¾ of the 120 combinations leaving only the cheapest routes.</a:t>
            </a:r>
          </a:p>
          <a:p>
            <a:pPr marL="0" indent="0">
              <a:buNone/>
            </a:pPr>
            <a:r>
              <a:rPr lang="en-GB" dirty="0"/>
              <a:t>The main 4 cheapest routes I can select the one with the lowest value and it gives me: </a:t>
            </a:r>
            <a:r>
              <a:rPr lang="en-GB" b="1" dirty="0"/>
              <a:t>D E B G A (3940)</a:t>
            </a:r>
          </a:p>
          <a:p>
            <a:pPr marL="0" indent="0">
              <a:buNone/>
            </a:pPr>
            <a:r>
              <a:rPr lang="en-GB" b="1" dirty="0"/>
              <a:t>Seeing the final result this doesn’t show the cheapest route I got from the brute force, but it helps find the closest resolve to </a:t>
            </a:r>
            <a:r>
              <a:rPr lang="en-GB" b="1"/>
              <a:t>the problem.</a:t>
            </a:r>
            <a:endParaRPr lang="en-GB" b="1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CFFE94D-CE58-8387-1936-BECC8EC675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4532178"/>
              </p:ext>
            </p:extLst>
          </p:nvPr>
        </p:nvGraphicFramePr>
        <p:xfrm>
          <a:off x="7216351" y="868680"/>
          <a:ext cx="3713554" cy="25603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856777">
                  <a:extLst>
                    <a:ext uri="{9D8B030D-6E8A-4147-A177-3AD203B41FA5}">
                      <a16:colId xmlns:a16="http://schemas.microsoft.com/office/drawing/2014/main" val="3058747423"/>
                    </a:ext>
                  </a:extLst>
                </a:gridCol>
                <a:gridCol w="1856777">
                  <a:extLst>
                    <a:ext uri="{9D8B030D-6E8A-4147-A177-3AD203B41FA5}">
                      <a16:colId xmlns:a16="http://schemas.microsoft.com/office/drawing/2014/main" val="4196203761"/>
                    </a:ext>
                  </a:extLst>
                </a:gridCol>
              </a:tblGrid>
              <a:tr h="361627">
                <a:tc>
                  <a:txBody>
                    <a:bodyPr/>
                    <a:lstStyle/>
                    <a:p>
                      <a:r>
                        <a:rPr lang="en-GB" dirty="0"/>
                        <a:t>D A (120)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 E(170)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890728"/>
                  </a:ext>
                </a:extLst>
              </a:tr>
              <a:tr h="361627">
                <a:tc>
                  <a:txBody>
                    <a:bodyPr/>
                    <a:lstStyle/>
                    <a:p>
                      <a:r>
                        <a:rPr lang="en-GB" dirty="0"/>
                        <a:t>D A B(420)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 E B (730)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0582946"/>
                  </a:ext>
                </a:extLst>
              </a:tr>
              <a:tr h="361627">
                <a:tc>
                  <a:txBody>
                    <a:bodyPr/>
                    <a:lstStyle/>
                    <a:p>
                      <a:r>
                        <a:rPr lang="en-GB" dirty="0"/>
                        <a:t>D A G (570)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 E G (1290)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4159141"/>
                  </a:ext>
                </a:extLst>
              </a:tr>
              <a:tr h="361627">
                <a:tc>
                  <a:txBody>
                    <a:bodyPr/>
                    <a:lstStyle/>
                    <a:p>
                      <a:r>
                        <a:rPr lang="en-GB" dirty="0"/>
                        <a:t>D A E (720)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9690198"/>
                  </a:ext>
                </a:extLst>
              </a:tr>
              <a:tr h="361627">
                <a:tc>
                  <a:txBody>
                    <a:bodyPr/>
                    <a:lstStyle/>
                    <a:p>
                      <a:r>
                        <a:rPr lang="en-GB" dirty="0"/>
                        <a:t> D A B E(1400)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 E B G (1690)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344488"/>
                  </a:ext>
                </a:extLst>
              </a:tr>
              <a:tr h="361627">
                <a:tc>
                  <a:txBody>
                    <a:bodyPr/>
                    <a:lstStyle/>
                    <a:p>
                      <a:r>
                        <a:rPr lang="en-GB" dirty="0"/>
                        <a:t>D A B G (1260)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9064923"/>
                  </a:ext>
                </a:extLst>
              </a:tr>
              <a:tr h="361627">
                <a:tc>
                  <a:txBody>
                    <a:bodyPr/>
                    <a:lstStyle/>
                    <a:p>
                      <a:r>
                        <a:rPr lang="en-GB" dirty="0"/>
                        <a:t>D A E G (2400)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6657582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D3A437E-97B2-B607-36EE-49C3DFE538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7612688"/>
              </p:ext>
            </p:extLst>
          </p:nvPr>
        </p:nvGraphicFramePr>
        <p:xfrm>
          <a:off x="7023348" y="4400695"/>
          <a:ext cx="4099560" cy="752518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2049780">
                  <a:extLst>
                    <a:ext uri="{9D8B030D-6E8A-4147-A177-3AD203B41FA5}">
                      <a16:colId xmlns:a16="http://schemas.microsoft.com/office/drawing/2014/main" val="1996462297"/>
                    </a:ext>
                  </a:extLst>
                </a:gridCol>
                <a:gridCol w="2049780">
                  <a:extLst>
                    <a:ext uri="{9D8B030D-6E8A-4147-A177-3AD203B41FA5}">
                      <a16:colId xmlns:a16="http://schemas.microsoft.com/office/drawing/2014/main" val="558183158"/>
                    </a:ext>
                  </a:extLst>
                </a:gridCol>
              </a:tblGrid>
              <a:tr h="376259">
                <a:tc>
                  <a:txBody>
                    <a:bodyPr/>
                    <a:lstStyle/>
                    <a:p>
                      <a:r>
                        <a:rPr lang="en-GB" dirty="0"/>
                        <a:t>D A B E G (4200)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 A E G B (3960)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8465269"/>
                  </a:ext>
                </a:extLst>
              </a:tr>
              <a:tr h="376259">
                <a:tc>
                  <a:txBody>
                    <a:bodyPr/>
                    <a:lstStyle/>
                    <a:p>
                      <a:r>
                        <a:rPr lang="en-GB" dirty="0"/>
                        <a:t>D A B G E (5180)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 E B G A (3940)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9483229"/>
                  </a:ext>
                </a:extLst>
              </a:tr>
            </a:tbl>
          </a:graphicData>
        </a:graphic>
      </p:graphicFrame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2C612631-33C6-2E46-4186-4F53644CB63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18210084"/>
              </p:ext>
            </p:extLst>
          </p:nvPr>
        </p:nvGraphicFramePr>
        <p:xfrm>
          <a:off x="6898105" y="5803900"/>
          <a:ext cx="2868168" cy="37084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2868168">
                  <a:extLst>
                    <a:ext uri="{9D8B030D-6E8A-4147-A177-3AD203B41FA5}">
                      <a16:colId xmlns:a16="http://schemas.microsoft.com/office/drawing/2014/main" val="12977999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D E B G A (3940)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44414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36524279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710</Words>
  <Application>Microsoft Office PowerPoint</Application>
  <PresentationFormat>Widescreen</PresentationFormat>
  <Paragraphs>126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Grandview Display</vt:lpstr>
      <vt:lpstr>DashVTI</vt:lpstr>
      <vt:lpstr>Dynamic Programming</vt:lpstr>
      <vt:lpstr>Starting</vt:lpstr>
      <vt:lpstr>First Part</vt:lpstr>
      <vt:lpstr>Second Part</vt:lpstr>
      <vt:lpstr>Last Part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Emiljano Markja</dc:creator>
  <cp:lastModifiedBy>Emiljano Markja</cp:lastModifiedBy>
  <cp:revision>2</cp:revision>
  <dcterms:created xsi:type="dcterms:W3CDTF">2025-11-24T22:59:48Z</dcterms:created>
  <dcterms:modified xsi:type="dcterms:W3CDTF">2025-11-25T00:30:03Z</dcterms:modified>
</cp:coreProperties>
</file>